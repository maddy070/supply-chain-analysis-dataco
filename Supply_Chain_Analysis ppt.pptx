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Supply Chain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DD7EE"/>
                </a:solidFill>
              </a:rPr>
              <a:t>Performance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D7EE"/>
                </a:solidFill>
              </a:rPr>
              <a:t>DataCo Smart Supply Chain Dataset — End-to-End SQL Analytics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972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478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Madhavan Padmanaban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587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</a:rPr>
              <a:t>MSc Operations and Supply Chain Management  •  University of Liverpool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</a:rPr>
              <a:t>Tools: SQL Server  •  Python (pandas)  •  Tableau  •  April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440740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B8D4"/>
                </a:solidFill>
              </a:rPr>
              <a:t>180,519 rows  •  11 SQL queries  •  2 Tableau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Objectives, dataset, and analytical approach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79"/>
                </a:solidFill>
              </a:rPr>
              <a:t>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Analyse a real-world supply chain dataset to identify performance drivers, delivery inefficiencies, and customer behaviour patterns — translating raw transactional data into actionable business intelligence.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Five analytical themes: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Category &amp; department profitability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Delivery performance &amp; delays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Demand trends over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ABC inventory classification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RFM customer segmentation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79"/>
                </a:solidFill>
              </a:rPr>
              <a:t>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DataCo Smart Supply Chain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404040"/>
                </a:solidFill>
              </a:rPr>
              <a:t>Kaggle — Fabian Constante et al.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180,519 rows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46 columns after cleaning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Jan 2015 — Feb 2018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50 product categories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11 departments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3 customer segments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5 global markets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4 shipping modes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132588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79"/>
                </a:solidFill>
              </a:rPr>
              <a:t>TOOLS &amp; TECHNIQUES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Python (pandas)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Data cleaning, column standardisation, null handling, CSV export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SQL Server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11 queries — CTEs, window functions (LAG, RANK, NTILE, SUM OVER), ABC analysis, RFM segmentation, views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Tableau Public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2 interactive dashboards — Overview and Product Analysis with KPI cards, bar charts, and geographic 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SQL files, Python notebook, report, and README published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Key Findings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Eight headline outcomes from eleven SQL analyses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3502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Revenue concentration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7 categories drive 77% of revenue. Fishing alone = 18.8% of all sales.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4884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037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Late delivery crisis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4414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54.8% of all orders arrive late — systemic across all regions and shipping modes.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7238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Shipping mode paradox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31012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First Class has 95.32% late rate vs Standard Class at 38.07% — a scheduling issue, not operational.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8620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4106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Order completion gap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41788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Only 32.96% of orders reach COMPLETE status. 22.07% stuck in PENDING_PAYMENT.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28016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28016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33502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Revenue vs profit mismatch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157276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Top revenue customer (Mary Smith, $10,524) generates a net loss of $866.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14884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14884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2037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Department imbalance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18888" y="24414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Fan Shop: $17.1M. Book Shop: $12,587. 1,360x difference in revenue between top and bottom.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01752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07238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Segment homogeneity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331012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Consumer, Corporate, Home Office show identical margins and late delivery rates — no differentiation.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886200"/>
            <a:ext cx="4251960" cy="749808"/>
          </a:xfrm>
          <a:prstGeom prst="roundRect">
            <a:avLst>
              <a:gd name="adj" fmla="val 7317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886200"/>
            <a:ext cx="4572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94106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Long tail inefficiency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41788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33 of 50 categories generate only 5% of revenue. Bottom 5 categories combined = under $73K total.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Category Performance &amp; ABC Classification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Revenue concentration and inventory prioritisation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298448"/>
            <a:ext cx="438912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Fishing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55080" y="12344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$6.9M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12344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755648"/>
            <a:ext cx="2807114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91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Cleats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73074" y="16916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$4.4M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20240" y="2212848"/>
            <a:ext cx="2608538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Camping &amp; Hiking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4498" y="21488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$4.1M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20240" y="2670048"/>
            <a:ext cx="2340248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Cardio Equipment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06208" y="26060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$3.7M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0" y="26060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20240" y="3127248"/>
            <a:ext cx="1993761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0632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Women's Apparel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59721" y="30632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$3.1M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0" y="30632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20240" y="3584448"/>
            <a:ext cx="1972254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204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Water Sports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8214" y="35204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$3.1M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35204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20240" y="4041648"/>
            <a:ext cx="1831588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977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Men's Footwear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97548" y="39776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</a:rPr>
              <a:t>$2.9M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3680" y="39776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</a:rPr>
              <a:t>ABC: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0" y="1234440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325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A — High 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16002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7 categories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1828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77% of revenue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2423160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E8F4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5146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B — Medium Value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2788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 categories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18% of revenue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611880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703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C — Low Value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49440" y="39776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33 categories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4040"/>
                </a:solidFill>
              </a:rPr>
              <a:t>5% of revenue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572000"/>
            <a:ext cx="4572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572000"/>
            <a:ext cx="8385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000"/>
                </a:solidFill>
              </a:rPr>
              <a:t>💡  7 categories = 77% of revenue. ABC classification directly drives safety stock levels, supplier priority, and procurement effort allocation.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Delivery Performance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Late delivery crisis — systemic across all regions and shipping modes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DCD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0759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54.8%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976933"/>
            <a:ext cx="19202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of all orders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arrived late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DCD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30759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98,977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31720" y="1976933"/>
            <a:ext cx="19202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late delivery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orders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07592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38"/>
                </a:solidFill>
              </a:rPr>
              <a:t>1.62 days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0" y="1976933"/>
            <a:ext cx="19202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average delay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for late orders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46520" y="1234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07592"/>
            <a:ext cx="23774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4040"/>
                </a:solidFill>
              </a:rPr>
              <a:t>57.96%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976933"/>
            <a:ext cx="23774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highest region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(Central Africa)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697480"/>
            <a:ext cx="411480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LATE DELIVERY % BY SHIPPING MODE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1480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175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First Class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0175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95.32%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832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Second Class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33832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76.63%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411480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Same Day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37490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45.74%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14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Standard Class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41148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75623"/>
                </a:solidFill>
              </a:rPr>
              <a:t>38.07%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97480"/>
            <a:ext cx="416052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6974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LATE DELIVERY RISK % BY REGION (TOP 5)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416052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175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Central Africa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30175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57.96%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38328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83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South Asia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63840" y="33832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56.27%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49040"/>
            <a:ext cx="416052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7490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East Africa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0" y="37490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55.94%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411480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1148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Western Europe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63840" y="41148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55.85%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480560"/>
            <a:ext cx="416052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480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South of USA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863840" y="44805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55.77%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4572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572000"/>
            <a:ext cx="8385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000"/>
                </a:solidFill>
              </a:rPr>
              <a:t>💡  First Class has a 95.32% late rate — higher than Standard Class. This is a scheduling calibration issue, not an operational failure. Recalibrating SLA dates could fix this without any logistical change.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Customer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RFM segmentation and segment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Champion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High R, F &amp; 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19072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4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Loyal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19072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High frequency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&amp; recency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63824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2EFDA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5623"/>
                </a:solidFill>
              </a:rPr>
              <a:t>New Customer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63824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Recent but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infrequent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DCD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</a:rPr>
              <a:t>At Risk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08576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Was frequent,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not recent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53328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8E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838"/>
                </a:solidFill>
              </a:rPr>
              <a:t>Potential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Middle ground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not yet committed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0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2984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4040"/>
                </a:solidFill>
              </a:rPr>
              <a:t>Lost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0" y="15727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Low recency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&amp; frequency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854964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SEGMENT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1732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2316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044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SALES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AVG ORDER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MARGIN 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6948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LATE DEL 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Consumer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1732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5389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34,119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2316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973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10,695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$19.1M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8348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005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$204.22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10.86%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69480" y="2743200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06056" y="274320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54.73%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Corporate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41732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5389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19,856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42316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973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6,239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2044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5701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$11.2M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8348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005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$203.84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0877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10.77%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69480" y="312724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06056" y="31272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54.75%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Home Office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41732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5389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11,777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42316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5973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3,718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52044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5701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$6.5M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98348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005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$202.34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17220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0877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10.59%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69480" y="3511296"/>
            <a:ext cx="100584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06056" y="351129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55.23%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4572000"/>
            <a:ext cx="4572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4572000"/>
            <a:ext cx="8385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000"/>
                </a:solidFill>
              </a:rPr>
              <a:t>💡  All three segments show near-identical margins and late delivery rates — no differentiated pricing or service strategy exists. Corporate and Home Office customers warrant premium SLAs and higher margins.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Department Performance &amp; Order Status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Profitability ranking and order pipeline health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DEPARTMENT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23160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SALES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03320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MARGIN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55448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15544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1554480"/>
            <a:ext cx="16916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155448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Fan Shop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155448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9736" y="15544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$17.1M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03320" y="155448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5544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12.0%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9202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19202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1920240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192024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Apparel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19202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9736" y="19202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$8.0M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19202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19202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12.28%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28600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228600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2286000"/>
            <a:ext cx="16916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228600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Golf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228600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9736" y="228600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$4.6M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03320" y="228600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228600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11.88%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65176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" y="265176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" y="2651760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265176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Footwear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265176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9736" y="265176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$4.0M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03320" y="265176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9896" y="265176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11.92%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01752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" y="301752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" y="3017520"/>
            <a:ext cx="16916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301752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Health &amp; Beauty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23160" y="301752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9736" y="301752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$106K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03320" y="3017520"/>
            <a:ext cx="100584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9896" y="301752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9.56%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338328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" y="33832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" y="3383280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" y="338328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Pet Shop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23160" y="338328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59736" y="33832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$41K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03320" y="338328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9896" y="338328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9.41%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3749040"/>
            <a:ext cx="100584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" y="37490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</a:rPr>
              <a:t>11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5800" y="3749040"/>
            <a:ext cx="169164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" y="374904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Book Shop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23160" y="3749040"/>
            <a:ext cx="100584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59736" y="37490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</a:rPr>
              <a:t>$12K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703320" y="3749040"/>
            <a:ext cx="100584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9896" y="3749040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</a:rPr>
              <a:t>7.91%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1234440"/>
            <a:ext cx="416052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ORDER STATUS BREAKDOWN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1554480"/>
            <a:ext cx="4160520" cy="329184"/>
          </a:xfrm>
          <a:prstGeom prst="rect">
            <a:avLst/>
          </a:prstGeom>
          <a:solidFill>
            <a:srgbClr val="E2EFDA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1554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COMPLETE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766560" y="15544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59,491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89520" y="15544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75623"/>
                </a:solidFill>
              </a:rPr>
              <a:t>32.96%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663440" y="1920240"/>
            <a:ext cx="4160520" cy="329184"/>
          </a:xfrm>
          <a:prstGeom prst="rect">
            <a:avLst/>
          </a:prstGeom>
          <a:solidFill>
            <a:srgbClr val="FFF8EC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19202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PENDING_PAYMENT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766560" y="1920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39,832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89520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</a:rPr>
              <a:t>22.07%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663440" y="2286000"/>
            <a:ext cx="416052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54880" y="22860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PROCESSING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766560" y="22860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21,902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89520" y="2286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12.13%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663440" y="2651760"/>
            <a:ext cx="4160520" cy="329184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54880" y="26517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PENDING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66560" y="26517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20,227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589520" y="26517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11.20%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663440" y="3017520"/>
            <a:ext cx="416052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54880" y="30175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CLOSED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766560" y="30175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19,616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589520" y="30175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04040"/>
                </a:solidFill>
              </a:rPr>
              <a:t>10.87%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663440" y="3383280"/>
            <a:ext cx="416052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54880" y="33832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SUSPECTED_FRAUD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766560" y="33832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4,062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89520" y="3383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2.25%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663440" y="3749040"/>
            <a:ext cx="4160520" cy="329184"/>
          </a:xfrm>
          <a:prstGeom prst="rect">
            <a:avLst/>
          </a:prstGeom>
          <a:solidFill>
            <a:srgbClr val="FFDCD9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0" y="37490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</a:rPr>
              <a:t>CANCELED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766560" y="37490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3,692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589520" y="37490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</a:rPr>
              <a:t>2.05%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274320" y="4572000"/>
            <a:ext cx="4572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FFF8EC"/>
          </a:solidFill>
          <a:ln w="12700">
            <a:solidFill>
              <a:srgbClr val="FFF8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4048" y="4572000"/>
            <a:ext cx="8385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3000"/>
                </a:solidFill>
              </a:rPr>
              <a:t>💡  Book Shop generates $12,587 total — 1,360x less than Fan Shop. Only 32.96% of orders complete. 22.07% stuck in PENDING_PAYMENT represent significant trapped revenue.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Business Recommendations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Four priority action areas based on analytical findings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51960" cy="1664208"/>
          </a:xfrm>
          <a:prstGeom prst="roundRect">
            <a:avLst>
              <a:gd name="adj" fmla="val 3846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25196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INVENTORY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40690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1.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Implement Class A controls for 7 key categories — daily monitoring, safety stock, dedicated suppliers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2.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Review bottom 5 Class C categories for discontinuation — $73K combined revenue adds complexity without return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3.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Apply JIT replenishment to Class C items to free working capital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51960" cy="1664208"/>
          </a:xfrm>
          <a:prstGeom prst="roundRect">
            <a:avLst>
              <a:gd name="adj" fmla="val 3846"/>
            </a:avLst>
          </a:prstGeom>
          <a:solidFill>
            <a:srgbClr val="FFDCD9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34440"/>
            <a:ext cx="425196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344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DELIVERY &amp; LOGISTICS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581912"/>
            <a:ext cx="40690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C00000"/>
                </a:solidFill>
              </a:rPr>
              <a:t>1.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Audit First Class SLA scheduling — 95.32% late rate signals over-promising not under-delivering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C00000"/>
                </a:solidFill>
              </a:rPr>
              <a:t>2.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Recalibrate all delivery schedules — advance shipping arrives 1.5 days early, suggesting systemic overestimation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C00000"/>
                </a:solidFill>
              </a:rPr>
              <a:t>3.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Review carrier contracts for Central Africa and South Asia — highest regional late risk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51960" cy="1664208"/>
          </a:xfrm>
          <a:prstGeom prst="roundRect">
            <a:avLst>
              <a:gd name="adj" fmla="val 3846"/>
            </a:avLst>
          </a:prstGeom>
          <a:solidFill>
            <a:srgbClr val="E2EFDA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4251960" cy="29260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CUSTOMER STRATEGY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40690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75623"/>
                </a:solidFill>
              </a:rPr>
              <a:t>1.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Replace revenue-only rankings with profit-adjusted scores — top revenue customer is loss-making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75623"/>
                </a:solidFill>
              </a:rPr>
              <a:t>2.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Introduce segment-differentiated SLAs and pricing for Corporate and Home Office buyers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75623"/>
                </a:solidFill>
              </a:rPr>
              <a:t>3.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Re-engage At Risk RFM customers urgently — previously frequent buyers going quiet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51960" cy="1664208"/>
          </a:xfrm>
          <a:prstGeom prst="roundRect">
            <a:avLst>
              <a:gd name="adj" fmla="val 3846"/>
            </a:avLst>
          </a:prstGeom>
          <a:solidFill>
            <a:srgbClr val="FFF8EC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017520"/>
            <a:ext cx="425196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175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ORDER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364992"/>
            <a:ext cx="40690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E8A838"/>
                </a:solidFill>
              </a:rPr>
              <a:t>1.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Implement automated payment chasing for 39,832 PENDING_PAYMENT orders — significant trapped revenue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E8A838"/>
                </a:solidFill>
              </a:rPr>
              <a:t>2. </a:t>
            </a:r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Strengthen fraud detection for 4,062 SUSPECTED_FRAUD orders — direct revenue leakage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</a:rPr>
              <a:t>SUPPLY CHAIN PERFORMANCE ANALYSIS  |  Madhavan Padmanaban  |  April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54864" cy="6400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Technical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</a:rPr>
              <a:t>Tools, techniques, and project deliverables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39496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SQL TECHNIQUES USED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539496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270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GROUP BY + Aggregates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606040" y="1527048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Category, region, segment summaries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5394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5623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CTE (WITH clause)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606040" y="1856232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Multi-step logic — 8 of 11 queries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2185416"/>
            <a:ext cx="539496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8541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LAG window function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606040" y="218541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Month-over-month growth analysis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5394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146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RANK window function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606040" y="2514600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Department profitability ranking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2843784"/>
            <a:ext cx="539496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NTILE(5) window function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606040" y="2843784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RFM customer scoring 1–5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172968"/>
            <a:ext cx="5394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7296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SUM OVER ()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606040" y="3172968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Running totals for ABC analysis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4320" y="3502152"/>
            <a:ext cx="539496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021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CASE Statement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606040" y="3502152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ABC class and RFM segment labelling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4320" y="3831336"/>
            <a:ext cx="5394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3133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</a:rPr>
              <a:t>CREATE VIEW + JOIN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606040" y="383133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04040"/>
                </a:solidFill>
              </a:rPr>
              <a:t>Master view combining RFM and ABC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897880" y="1234440"/>
            <a:ext cx="29260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234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PROJECT DELIVERABLES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97880" y="1527048"/>
            <a:ext cx="292608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152704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datacocleaning.ipynb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52360" y="152704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Python cleaning notebook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97880" y="1856232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185623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supply_chain_queries.sql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52360" y="185623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11 analytical SQL queries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2185416"/>
            <a:ext cx="292608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18541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supply_chain_views.sql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52360" y="218541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RFM, ABC and master views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2514600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2514600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dataco_cleaned.csv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52360" y="2514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Cleaned dataset — 46 cols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97880" y="2843784"/>
            <a:ext cx="292608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284378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Tableau Dashboard 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52360" y="284378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Overview — KPIs + map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97880" y="3172968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317296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Tableau Dashboard 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52360" y="317296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Product — ABC + top 10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97880" y="3502152"/>
            <a:ext cx="2926080" cy="30175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350215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Project Report (.docx)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52360" y="35021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Full written analysis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97880" y="3831336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383133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</a:rPr>
              <a:t>This Presentation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52360" y="38313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</a:rPr>
              <a:t>Executive summary slides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</a:rPr>
              <a:t>DataCo Smart Supply Chain Dataset  •  180,519 rows  •  SQL Server / Python / Tableau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595360" y="4846320"/>
            <a:ext cx="457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4E7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52044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DD7EE"/>
                </a:solidFill>
              </a:rPr>
              <a:t>Supply Chain Performance Analysis — DataCo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DD7EE"/>
                </a:solidFill>
              </a:rPr>
              <a:t>Name: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084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Madhavan Padmanaban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DD7EE"/>
                </a:solidFill>
              </a:rPr>
              <a:t>Email: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madhavanmdv@gmail.com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DD7EE"/>
                </a:solidFill>
              </a:rPr>
              <a:t>LinkedIn: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7066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linkedin.com/in/madhavanpadmanaban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DD7EE"/>
                </a:solidFill>
              </a:rPr>
              <a:t>MSc: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Operations and Supply Chain Management — University of Liverpool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301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 used: SQL Server  •  Python (pandas)  •  Tableau  •  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</a:rPr>
              <a:t>180,519 rows  •  11 SQL queries  •  ABC analysis  •  RFM segmentation  •  2 Tableau dashboards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D7EE"/>
                </a:solidFill>
              </a:rPr>
              <a:t>Portfolio available on GitHub and Tableau Public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Performance Analysis</dc:title>
  <dc:subject>PptxGenJS Presentation</dc:subject>
  <dc:creator>Madhavan Padmanaban</dc:creator>
  <cp:lastModifiedBy>Madhavan Padmanaban</cp:lastModifiedBy>
  <cp:revision>1</cp:revision>
  <dcterms:created xsi:type="dcterms:W3CDTF">2026-04-09T15:17:37Z</dcterms:created>
  <dcterms:modified xsi:type="dcterms:W3CDTF">2026-04-09T15:17:37Z</dcterms:modified>
</cp:coreProperties>
</file>